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 autoCompressPictures="0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56" r:id="rId2"/>
    <p:sldId id="276" r:id="rId3"/>
    <p:sldId id="270" r:id="rId4"/>
    <p:sldId id="273" r:id="rId5"/>
    <p:sldId id="272" r:id="rId6"/>
    <p:sldId id="271" r:id="rId7"/>
    <p:sldId id="261" r:id="rId8"/>
    <p:sldId id="274" r:id="rId9"/>
    <p:sldId id="263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AD2AE95-5E96-C240-B5BB-2E8895F7F4F4}" v="11" dt="2026-09-11T20:30:41.1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74795" autoAdjust="0"/>
  </p:normalViewPr>
  <p:slideViewPr>
    <p:cSldViewPr snapToGrid="0" snapToObjects="1">
      <p:cViewPr varScale="1">
        <p:scale>
          <a:sx n="93" d="100"/>
          <a:sy n="93" d="100"/>
        </p:scale>
        <p:origin x="2392" y="2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milio Lehoucq" userId="fb1e86bc-2dff-49e3-9a0f-9c63245e88ac" providerId="ADAL" clId="{FC728533-0ADC-5259-934E-3A04E8378ED8}"/>
    <pc:docChg chg="modSld">
      <pc:chgData name="Emilio Lehoucq" userId="fb1e86bc-2dff-49e3-9a0f-9c63245e88ac" providerId="ADAL" clId="{FC728533-0ADC-5259-934E-3A04E8378ED8}" dt="2026-09-11T20:30:41.097" v="9" actId="20577"/>
      <pc:docMkLst>
        <pc:docMk/>
      </pc:docMkLst>
      <pc:sldChg chg="modSp modAnim">
        <pc:chgData name="Emilio Lehoucq" userId="fb1e86bc-2dff-49e3-9a0f-9c63245e88ac" providerId="ADAL" clId="{FC728533-0ADC-5259-934E-3A04E8378ED8}" dt="2026-09-11T20:30:41.097" v="9" actId="20577"/>
        <pc:sldMkLst>
          <pc:docMk/>
          <pc:sldMk cId="1482419599" sldId="273"/>
        </pc:sldMkLst>
        <pc:spChg chg="mod">
          <ac:chgData name="Emilio Lehoucq" userId="fb1e86bc-2dff-49e3-9a0f-9c63245e88ac" providerId="ADAL" clId="{FC728533-0ADC-5259-934E-3A04E8378ED8}" dt="2026-09-11T20:30:41.097" v="9" actId="20577"/>
          <ac:spMkLst>
            <pc:docMk/>
            <pc:sldMk cId="1482419599" sldId="273"/>
            <ac:spMk id="6" creationId="{1C960332-A3BD-0C4E-1A36-71741E170A3B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6D1952-4C8C-594A-8D47-CC3EBD31CD69}" type="datetimeFigureOut">
              <a:rPr lang="en-US" smtClean="0"/>
              <a:t>9/11/26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32E9FD-FA40-FC48-8917-175ED0BCC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20482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E82BA9-193E-D440-8A2C-9653656F2AE3}" type="datetimeFigureOut">
              <a:rPr lang="en-US" smtClean="0"/>
              <a:t>9/11/26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63C63D-0C1A-0E4C-A0BD-8D65A95424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70561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63C63D-0C1A-0E4C-A0BD-8D65A954242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0209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63C63D-0C1A-0E4C-A0BD-8D65A954242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8723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63C63D-0C1A-0E4C-A0BD-8D65A954242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1757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63C63D-0C1A-0E4C-A0BD-8D65A954242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507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parator Page 1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0" y="2056080"/>
            <a:ext cx="9144000" cy="2738880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  <a:latin typeface="Arial"/>
              </a:defRPr>
            </a:lvl1pPr>
          </a:lstStyle>
          <a:p>
            <a:r>
              <a:rPr lang="en-US" dirty="0"/>
              <a:t>Separator</a:t>
            </a:r>
          </a:p>
        </p:txBody>
      </p:sp>
    </p:spTree>
    <p:extLst>
      <p:ext uri="{BB962C8B-B14F-4D97-AF65-F5344CB8AC3E}">
        <p14:creationId xmlns:p14="http://schemas.microsoft.com/office/powerpoint/2010/main" val="6117737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parator Page 2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0" y="2056080"/>
            <a:ext cx="9144000" cy="2738880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  <a:latin typeface="Arial"/>
              </a:defRPr>
            </a:lvl1pPr>
          </a:lstStyle>
          <a:p>
            <a:r>
              <a:rPr lang="en-US" dirty="0"/>
              <a:t>Separator</a:t>
            </a:r>
          </a:p>
        </p:txBody>
      </p:sp>
    </p:spTree>
    <p:extLst>
      <p:ext uri="{BB962C8B-B14F-4D97-AF65-F5344CB8AC3E}">
        <p14:creationId xmlns:p14="http://schemas.microsoft.com/office/powerpoint/2010/main" val="12245215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fld id="{D3421027-4EC0-9C48-8CFB-B8A3104CB056}" type="datetime1">
              <a:rPr lang="en-US" smtClean="0"/>
              <a:pPr/>
              <a:t>9/11/26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fld id="{106E12CD-FCB1-464E-A775-0B83FDDACE0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49267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>
                <a:latin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fld id="{FA5DAB8B-8178-D047-869E-5A62AF236443}" type="datetime1">
              <a:rPr lang="en-US" smtClean="0"/>
              <a:t>9/11/26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fld id="{106E12CD-FCB1-464E-A775-0B83FDDACE0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14084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  <a:lvl2pPr>
              <a:defRPr>
                <a:latin typeface="Arial"/>
              </a:defRPr>
            </a:lvl2pPr>
            <a:lvl3pPr>
              <a:defRPr>
                <a:latin typeface="Arial"/>
              </a:defRPr>
            </a:lvl3pPr>
            <a:lvl4pPr>
              <a:defRPr>
                <a:latin typeface="Arial"/>
              </a:defRPr>
            </a:lvl4pPr>
            <a:lvl5pPr>
              <a:defRPr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fld id="{B9AB8213-A564-3C44-8CA0-968996562138}" type="datetime1">
              <a:rPr lang="en-US" smtClean="0"/>
              <a:pPr/>
              <a:t>9/11/26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fld id="{106E12CD-FCB1-464E-A775-0B83FDDACE0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5669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>
            <a:normAutofit/>
          </a:bodyPr>
          <a:lstStyle>
            <a:lvl1pPr algn="l">
              <a:defRPr sz="3200" b="1" cap="all">
                <a:latin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  <a:latin typeface="Arial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fld id="{0A83DA12-03A5-114A-ABAE-78CD6BB6AC19}" type="datetime1">
              <a:rPr lang="en-US" smtClean="0"/>
              <a:pPr/>
              <a:t>9/11/26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fld id="{106E12CD-FCB1-464E-A775-0B83FDDACE0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6367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>
                <a:latin typeface="Arial"/>
              </a:defRPr>
            </a:lvl1pPr>
            <a:lvl2pPr>
              <a:defRPr sz="2400">
                <a:latin typeface="Arial"/>
              </a:defRPr>
            </a:lvl2pPr>
            <a:lvl3pPr>
              <a:defRPr sz="2000">
                <a:latin typeface="Arial"/>
              </a:defRPr>
            </a:lvl3pPr>
            <a:lvl4pPr>
              <a:defRPr sz="1800">
                <a:latin typeface="Arial"/>
              </a:defRPr>
            </a:lvl4pPr>
            <a:lvl5pPr>
              <a:defRPr sz="1800">
                <a:latin typeface="Arial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>
                <a:latin typeface="Arial"/>
              </a:defRPr>
            </a:lvl1pPr>
            <a:lvl2pPr>
              <a:defRPr sz="2400">
                <a:latin typeface="Arial"/>
              </a:defRPr>
            </a:lvl2pPr>
            <a:lvl3pPr>
              <a:defRPr sz="2000">
                <a:latin typeface="Arial"/>
              </a:defRPr>
            </a:lvl3pPr>
            <a:lvl4pPr>
              <a:defRPr sz="1800">
                <a:latin typeface="Arial"/>
              </a:defRPr>
            </a:lvl4pPr>
            <a:lvl5pPr>
              <a:defRPr sz="1800">
                <a:latin typeface="Arial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fld id="{1FFF386F-14E4-954A-9EC2-E277FFD66D49}" type="datetime1">
              <a:rPr lang="en-US" smtClean="0"/>
              <a:pPr/>
              <a:t>9/11/26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fld id="{106E12CD-FCB1-464E-A775-0B83FDDACE0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7278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latin typeface="Arial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>
                <a:latin typeface="Arial"/>
              </a:defRPr>
            </a:lvl1pPr>
            <a:lvl2pPr>
              <a:defRPr sz="2000">
                <a:latin typeface="Arial"/>
              </a:defRPr>
            </a:lvl2pPr>
            <a:lvl3pPr>
              <a:defRPr sz="1800">
                <a:latin typeface="Arial"/>
              </a:defRPr>
            </a:lvl3pPr>
            <a:lvl4pPr>
              <a:defRPr sz="1600">
                <a:latin typeface="Arial"/>
              </a:defRPr>
            </a:lvl4pPr>
            <a:lvl5pPr>
              <a:defRPr sz="1600">
                <a:latin typeface="Arial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latin typeface="Arial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>
                <a:latin typeface="Arial"/>
              </a:defRPr>
            </a:lvl1pPr>
            <a:lvl2pPr>
              <a:defRPr sz="2000">
                <a:latin typeface="Arial"/>
              </a:defRPr>
            </a:lvl2pPr>
            <a:lvl3pPr>
              <a:defRPr sz="1800">
                <a:latin typeface="Arial"/>
              </a:defRPr>
            </a:lvl3pPr>
            <a:lvl4pPr>
              <a:defRPr sz="1600">
                <a:latin typeface="Arial"/>
              </a:defRPr>
            </a:lvl4pPr>
            <a:lvl5pPr>
              <a:defRPr sz="1600">
                <a:latin typeface="Arial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fld id="{D8FFCF06-3344-8345-BEA6-DDAEFCC6ECCE}" type="datetime1">
              <a:rPr lang="en-US" smtClean="0"/>
              <a:pPr/>
              <a:t>9/11/26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fld id="{106E12CD-FCB1-464E-A775-0B83FDDACE0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7705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fld id="{84C6D879-35D4-554E-9D6D-93E8130AA922}" type="datetime1">
              <a:rPr lang="en-US" smtClean="0"/>
              <a:pPr/>
              <a:t>9/11/26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fld id="{106E12CD-FCB1-464E-A775-0B83FDDACE0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208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>
                <a:latin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>
                <a:latin typeface="Arial"/>
              </a:defRPr>
            </a:lvl1pPr>
            <a:lvl2pPr>
              <a:defRPr sz="2800">
                <a:latin typeface="Arial"/>
              </a:defRPr>
            </a:lvl2pPr>
            <a:lvl3pPr>
              <a:defRPr sz="2400">
                <a:latin typeface="Arial"/>
              </a:defRPr>
            </a:lvl3pPr>
            <a:lvl4pPr>
              <a:defRPr sz="2000">
                <a:latin typeface="Arial"/>
              </a:defRPr>
            </a:lvl4pPr>
            <a:lvl5pPr>
              <a:defRPr sz="2000">
                <a:latin typeface="Arial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>
                <a:latin typeface="Arial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fld id="{AB182AE3-760A-8E44-AB65-03A533386DFC}" type="datetime1">
              <a:rPr lang="en-US" smtClean="0"/>
              <a:pPr/>
              <a:t>9/11/26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fld id="{106E12CD-FCB1-464E-A775-0B83FDDACE0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2467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>
                <a:latin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>
                <a:latin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>
                <a:latin typeface="Arial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fld id="{B362BA78-8688-C546-A03A-2A39F84C0B58}" type="datetime1">
              <a:rPr lang="en-US" smtClean="0"/>
              <a:pPr/>
              <a:t>9/11/26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fld id="{106E12CD-FCB1-464E-A775-0B83FDDACE0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2783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Arial"/>
              </a:defRPr>
            </a:lvl1pPr>
            <a:lvl2pPr>
              <a:defRPr>
                <a:latin typeface="Arial"/>
              </a:defRPr>
            </a:lvl2pPr>
            <a:lvl3pPr>
              <a:defRPr>
                <a:latin typeface="Arial"/>
              </a:defRPr>
            </a:lvl3pPr>
            <a:lvl4pPr>
              <a:defRPr>
                <a:latin typeface="Arial"/>
              </a:defRPr>
            </a:lvl4pPr>
            <a:lvl5pPr>
              <a:defRPr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fld id="{EF5B9135-15EF-DE46-84CC-16626B0FAF7F}" type="datetime1">
              <a:rPr lang="en-US" smtClean="0"/>
              <a:pPr/>
              <a:t>9/11/26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fld id="{106E12CD-FCB1-464E-A775-0B83FDDACE0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Box 6"/>
          <p:cNvSpPr txBox="1"/>
          <p:nvPr userDrawn="1"/>
        </p:nvSpPr>
        <p:spPr>
          <a:xfrm>
            <a:off x="3136197" y="-406080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0293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>
            <a:lvl1pPr>
              <a:defRPr>
                <a:latin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>
            <a:lvl1pPr>
              <a:defRPr>
                <a:latin typeface="Arial"/>
              </a:defRPr>
            </a:lvl1pPr>
            <a:lvl2pPr>
              <a:defRPr>
                <a:latin typeface="Arial"/>
              </a:defRPr>
            </a:lvl2pPr>
            <a:lvl3pPr>
              <a:defRPr>
                <a:latin typeface="Arial"/>
              </a:defRPr>
            </a:lvl3pPr>
            <a:lvl4pPr>
              <a:defRPr>
                <a:latin typeface="Arial"/>
              </a:defRPr>
            </a:lvl4pPr>
            <a:lvl5pPr>
              <a:defRPr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77ADD-011F-3541-9724-9C7FC92455D5}" type="datetime1">
              <a:rPr lang="en-US" smtClean="0"/>
              <a:t>9/11/26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fld id="{106E12CD-FCB1-464E-A775-0B83FDDACE0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2321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8C176C-065F-124D-AAA4-94F2B7A2EC7C}" type="datetime1">
              <a:rPr lang="en-US" smtClean="0"/>
              <a:t>9/11/26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fld id="{106E12CD-FCB1-464E-A775-0B83FDDACE0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49602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4" r:id="rId3"/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6" r:id="rId10"/>
    <p:sldLayoutId id="2147483657" r:id="rId11"/>
    <p:sldLayoutId id="2147483658" r:id="rId12"/>
    <p:sldLayoutId id="2147483659" r:id="rId13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Arial"/>
          <a:ea typeface="+mj-ea"/>
          <a:cs typeface="Arial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Arial"/>
          <a:ea typeface="+mn-ea"/>
          <a:cs typeface="Arial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Arial"/>
          <a:ea typeface="+mn-ea"/>
          <a:cs typeface="Arial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Arial"/>
          <a:ea typeface="+mn-ea"/>
          <a:cs typeface="Arial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Arial"/>
          <a:ea typeface="+mn-ea"/>
          <a:cs typeface="Arial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Arial"/>
          <a:ea typeface="+mn-ea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t.northwestern.edu/departments/it-services-support/research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rcdsconsult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www.it.northwestern.edu/departments/it-services-support/research/data-science-statistics-visualization/" TargetMode="External"/><Relationship Id="rId5" Type="http://schemas.openxmlformats.org/officeDocument/2006/relationships/hyperlink" Target="https://bit.ly/byod_groups" TargetMode="External"/><Relationship Id="rId4" Type="http://schemas.openxmlformats.org/officeDocument/2006/relationships/hyperlink" Target="https://www.it.northwestern.edu/departments/it-services-support/research/training-and-consultation/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mailto:researchdata@northwestern.edu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www.it.northwestern.edu/departments/it-services-support/research/data-storage/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services.northwestern.edu/TDClient/30/Portal/Requests/ServiceDet?ID=83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www.it.northwestern.edu/departments/it-services-support/research/computing/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rcds_listserv" TargetMode="External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mailto:emilio@northwestern.edu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17034" y="1341784"/>
            <a:ext cx="7026965" cy="311094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Northwestern IT - Research Computing and Data Services (RCDS)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58516" y="4390193"/>
            <a:ext cx="9143999" cy="1265172"/>
          </a:xfrm>
        </p:spPr>
        <p:txBody>
          <a:bodyPr/>
          <a:lstStyle/>
          <a:p>
            <a:r>
              <a:rPr lang="en-US" dirty="0">
                <a:solidFill>
                  <a:srgbClr val="000000"/>
                </a:solidFill>
              </a:rPr>
              <a:t>Emilio Lehoucq</a:t>
            </a:r>
          </a:p>
          <a:p>
            <a:r>
              <a:rPr lang="en-US" dirty="0">
                <a:solidFill>
                  <a:srgbClr val="000000"/>
                </a:solidFill>
              </a:rPr>
              <a:t>Data Scientist</a:t>
            </a:r>
          </a:p>
        </p:txBody>
      </p:sp>
    </p:spTree>
    <p:extLst>
      <p:ext uri="{BB962C8B-B14F-4D97-AF65-F5344CB8AC3E}">
        <p14:creationId xmlns:p14="http://schemas.microsoft.com/office/powerpoint/2010/main" val="41543333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 descr="Laptops and devices connected to a cloud&#10;&#10;Description automatically generated">
            <a:extLst>
              <a:ext uri="{FF2B5EF4-FFF2-40B4-BE49-F238E27FC236}">
                <a16:creationId xmlns:a16="http://schemas.microsoft.com/office/drawing/2014/main" id="{63EDD850-AF58-AF6F-56B0-BDD0F93C3E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8905" y="31423"/>
            <a:ext cx="5126189" cy="3394097"/>
          </a:xfrm>
          <a:prstGeom prst="rect">
            <a:avLst/>
          </a:prstGeom>
        </p:spPr>
      </p:pic>
      <p:pic>
        <p:nvPicPr>
          <p:cNvPr id="5" name="Picture 4" descr="A close-up of a data&#10;&#10;Description automatically generated">
            <a:extLst>
              <a:ext uri="{FF2B5EF4-FFF2-40B4-BE49-F238E27FC236}">
                <a16:creationId xmlns:a16="http://schemas.microsoft.com/office/drawing/2014/main" id="{704FD0D7-D582-6223-7C26-30C560820E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0032" y="3101391"/>
            <a:ext cx="5283934" cy="3387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14519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109DBA-6D35-6B54-6E82-A99588731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E12CD-FCB1-464E-A775-0B83FDDACE03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83EF96-CCD6-E49E-FFB3-094BFD2CF16F}"/>
              </a:ext>
            </a:extLst>
          </p:cNvPr>
          <p:cNvSpPr txBox="1"/>
          <p:nvPr/>
        </p:nvSpPr>
        <p:spPr>
          <a:xfrm>
            <a:off x="636309" y="471341"/>
            <a:ext cx="7871381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500" dirty="0">
                <a:latin typeface="Arial" panose="020B0604020202020204" pitchFamily="34" charset="0"/>
                <a:cs typeface="Arial" panose="020B0604020202020204" pitchFamily="34" charset="0"/>
              </a:rPr>
              <a:t>Support Provided by RCDS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960332-A3BD-0C4E-1A36-71741E170A3B}"/>
              </a:ext>
            </a:extLst>
          </p:cNvPr>
          <p:cNvSpPr txBox="1"/>
          <p:nvPr/>
        </p:nvSpPr>
        <p:spPr>
          <a:xfrm>
            <a:off x="636309" y="1302471"/>
            <a:ext cx="7871381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Data science, statistics, and visualization.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Data management and sharing.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Research computing and software.</a:t>
            </a:r>
          </a:p>
          <a:p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https://www.it.northwestern.edu/departments/it-services-support/research/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88240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109DBA-6D35-6B54-6E82-A99588731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E12CD-FCB1-464E-A775-0B83FDDACE03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83EF96-CCD6-E49E-FFB3-094BFD2CF16F}"/>
              </a:ext>
            </a:extLst>
          </p:cNvPr>
          <p:cNvSpPr txBox="1"/>
          <p:nvPr/>
        </p:nvSpPr>
        <p:spPr>
          <a:xfrm>
            <a:off x="304795" y="67890"/>
            <a:ext cx="8534399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500" dirty="0">
                <a:latin typeface="Arial" panose="020B0604020202020204" pitchFamily="34" charset="0"/>
                <a:cs typeface="Arial" panose="020B0604020202020204" pitchFamily="34" charset="0"/>
              </a:rPr>
              <a:t>Data Science, Statistics, and Visualization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960332-A3BD-0C4E-1A36-71741E170A3B}"/>
              </a:ext>
            </a:extLst>
          </p:cNvPr>
          <p:cNvSpPr txBox="1"/>
          <p:nvPr/>
        </p:nvSpPr>
        <p:spPr>
          <a:xfrm>
            <a:off x="636305" y="698832"/>
            <a:ext cx="7871381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Free consultations on statistics, data, machine learning/AI, programming, or visualization: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https://bit.ly/rcdsconsult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Workshops on R and Python, machine learning/AI, visualization, Git and GitHub, command line, and more: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https://www.it.northwestern.edu/departments/it-services-support/research/training-and-consultation/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Working groups that meet 1 hour weekly during the quarter to provide stress-free accountability and support in your data projects (including with a social sciences focus!):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hlinkClick r:id="rId5"/>
              </a:rPr>
              <a:t>https://bit.ly/byod_groups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Much more: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https://www.it.northwestern.edu/departments/it-services-support/research/data-science-statistics-visualization/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82419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109DBA-6D35-6B54-6E82-A99588731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E12CD-FCB1-464E-A775-0B83FDDACE03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83EF96-CCD6-E49E-FFB3-094BFD2CF16F}"/>
              </a:ext>
            </a:extLst>
          </p:cNvPr>
          <p:cNvSpPr txBox="1"/>
          <p:nvPr/>
        </p:nvSpPr>
        <p:spPr>
          <a:xfrm>
            <a:off x="636307" y="598341"/>
            <a:ext cx="7871381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500" dirty="0">
                <a:latin typeface="Arial" panose="020B0604020202020204" pitchFamily="34" charset="0"/>
                <a:cs typeface="Arial" panose="020B0604020202020204" pitchFamily="34" charset="0"/>
              </a:rPr>
              <a:t>Data Management and Sharing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960332-A3BD-0C4E-1A36-71741E170A3B}"/>
              </a:ext>
            </a:extLst>
          </p:cNvPr>
          <p:cNvSpPr txBox="1"/>
          <p:nvPr/>
        </p:nvSpPr>
        <p:spPr>
          <a:xfrm>
            <a:off x="636308" y="1536174"/>
            <a:ext cx="7871381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Support across every stage of the process: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Writing a data management plan (e.g., for grants).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Protecting sensitive information.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Choosing appropriate storage.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Documenting your research.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Making your data reusable and sharing it.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Free consultations: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researchdata@northwestern.edu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Much more (including workshops):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https://www.it.northwestern.edu/departments/it-services-support/research/data-storage/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49563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109DBA-6D35-6B54-6E82-A99588731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E12CD-FCB1-464E-A775-0B83FDDACE03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83EF96-CCD6-E49E-FFB3-094BFD2CF16F}"/>
              </a:ext>
            </a:extLst>
          </p:cNvPr>
          <p:cNvSpPr txBox="1"/>
          <p:nvPr/>
        </p:nvSpPr>
        <p:spPr>
          <a:xfrm>
            <a:off x="636308" y="703441"/>
            <a:ext cx="7871381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500" dirty="0">
                <a:latin typeface="Arial" panose="020B0604020202020204" pitchFamily="34" charset="0"/>
                <a:cs typeface="Arial" panose="020B0604020202020204" pitchFamily="34" charset="0"/>
              </a:rPr>
              <a:t>Research Computing and Software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960332-A3BD-0C4E-1A36-71741E170A3B}"/>
              </a:ext>
            </a:extLst>
          </p:cNvPr>
          <p:cNvSpPr txBox="1"/>
          <p:nvPr/>
        </p:nvSpPr>
        <p:spPr>
          <a:xfrm>
            <a:off x="636308" y="1536174"/>
            <a:ext cx="7871381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Remote desktop environments (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NUWorkspace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– e.g., to access Stata,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Atlas.ti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Nvivo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ArcGISPro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High-performance computing (Quest – e.g., if you have big data or computationally intensive analyses).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Free consultations: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https://services.northwestern.edu/TDClient/30/Portal/Requests/ServiceDet?ID=83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Much more (including workshops):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https://www.it.northwestern.edu/departments/it-services-support/research/computing/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59214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3900" y="1818014"/>
            <a:ext cx="7696200" cy="2138599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000000"/>
                </a:solidFill>
              </a:rPr>
              <a:t>We have a LISTSERV if you want to stay updated on workshops and other resources: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96900" y="4332634"/>
            <a:ext cx="7950200" cy="1265172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000000"/>
                </a:solidFill>
                <a:hlinkClick r:id="rId3"/>
              </a:rPr>
              <a:t>https://bit.ly/rcds_listserv</a:t>
            </a:r>
            <a:r>
              <a:rPr lang="en-US" sz="4000" dirty="0">
                <a:solidFill>
                  <a:srgbClr val="000000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000067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B337C75A-D009-8E80-31F9-AA201C604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-193675"/>
            <a:ext cx="8229600" cy="1143000"/>
          </a:xfrm>
        </p:spPr>
        <p:txBody>
          <a:bodyPr/>
          <a:lstStyle/>
          <a:p>
            <a:r>
              <a:rPr lang="en-US" dirty="0"/>
              <a:t>Already forgot everything?</a:t>
            </a:r>
          </a:p>
        </p:txBody>
      </p:sp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49AA58C9-191B-D23B-D431-54AD48D557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6635" y="767199"/>
            <a:ext cx="5891217" cy="5316824"/>
          </a:xfrm>
          <a:prstGeom prst="rect">
            <a:avLst/>
          </a:prstGeo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76698B-098A-E1DD-B418-571614390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 anchor="b">
            <a:normAutofit/>
          </a:bodyPr>
          <a:lstStyle/>
          <a:p>
            <a:pPr>
              <a:spcAft>
                <a:spcPts val="600"/>
              </a:spcAft>
            </a:pPr>
            <a:fld id="{106E12CD-FCB1-464E-A775-0B83FDDACE03}" type="slidenum">
              <a:rPr lang="en-US" smtClean="0"/>
              <a:pPr>
                <a:spcAft>
                  <a:spcPts val="600"/>
                </a:spcAft>
              </a:pPr>
              <a:t>7</a:t>
            </a:fld>
            <a:endParaRPr lang="en-US"/>
          </a:p>
        </p:txBody>
      </p:sp>
      <p:pic>
        <p:nvPicPr>
          <p:cNvPr id="7" name="Picture 6" descr="Laptops and devices connected to a cloud&#10;&#10;Description automatically generated">
            <a:extLst>
              <a:ext uri="{FF2B5EF4-FFF2-40B4-BE49-F238E27FC236}">
                <a16:creationId xmlns:a16="http://schemas.microsoft.com/office/drawing/2014/main" id="{C3E53401-B328-D574-381F-9FDCF7C823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3854" y="1097722"/>
            <a:ext cx="3280489" cy="2172042"/>
          </a:xfrm>
          <a:prstGeom prst="rect">
            <a:avLst/>
          </a:prstGeom>
        </p:spPr>
      </p:pic>
      <p:pic>
        <p:nvPicPr>
          <p:cNvPr id="8" name="Picture 7" descr="A close-up of a data&#10;&#10;Description automatically generated">
            <a:extLst>
              <a:ext uri="{FF2B5EF4-FFF2-40B4-BE49-F238E27FC236}">
                <a16:creationId xmlns:a16="http://schemas.microsoft.com/office/drawing/2014/main" id="{DD52876F-0D96-2586-E813-D6C649BCCA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3854" y="3542091"/>
            <a:ext cx="3266635" cy="2093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4037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you!</a:t>
            </a:r>
            <a:br>
              <a:rPr lang="en-US" dirty="0"/>
            </a:br>
            <a:br>
              <a:rPr lang="en-US" dirty="0"/>
            </a:br>
            <a:r>
              <a:rPr lang="en-US" dirty="0" err="1"/>
              <a:t>e</a:t>
            </a:r>
            <a:r>
              <a:rPr lang="en-US" dirty="0" err="1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milio@northwestern.edu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431555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153</TotalTime>
  <Words>401</Words>
  <Application>Microsoft Macintosh PowerPoint</Application>
  <PresentationFormat>On-screen Show (4:3)</PresentationFormat>
  <Paragraphs>42</Paragraphs>
  <Slides>9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Northwestern IT - Research Computing and Data Services (RCDS)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We have a LISTSERV if you want to stay updated on workshops and other resources:</vt:lpstr>
      <vt:lpstr>Already forgot everything?</vt:lpstr>
      <vt:lpstr>Thank you!  emilio@northwestern.edu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Geraldo Rivera</dc:creator>
  <cp:lastModifiedBy>Emilio Lehoucq</cp:lastModifiedBy>
  <cp:revision>71</cp:revision>
  <dcterms:created xsi:type="dcterms:W3CDTF">2015-07-21T16:44:10Z</dcterms:created>
  <dcterms:modified xsi:type="dcterms:W3CDTF">2026-09-11T20:30:53Z</dcterms:modified>
</cp:coreProperties>
</file>